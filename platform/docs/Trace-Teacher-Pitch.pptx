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5812b21aa14e1b" /><Relationship Type="http://schemas.openxmlformats.org/officeDocument/2006/relationships/extended-properties" Target="/docProps/app.xml" Id="R829149458922488b" /><Relationship Type="http://schemas.openxmlformats.org/officeDocument/2006/relationships/officeDocument" Target="/ppt/presentation.xml" Id="R14a4b704381c44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a97c3d04e54815"/>
  </p:sldMasterIdLst>
  <p:notesMasterIdLst>
    <p:notesMasterId xmlns:r="http://schemas.openxmlformats.org/officeDocument/2006/relationships" r:id="R2249585b5c5949de"/>
  </p:notesMasterIdLst>
  <p:sldIdLst>
    <p:sldId xmlns:r="http://schemas.openxmlformats.org/officeDocument/2006/relationships" id="256" r:id="Rd9277cf7d336473b"/>
    <p:sldId xmlns:r="http://schemas.openxmlformats.org/officeDocument/2006/relationships" id="257" r:id="Rb256d366bae140ae"/>
    <p:sldId xmlns:r="http://schemas.openxmlformats.org/officeDocument/2006/relationships" id="258" r:id="R90b9867543f84f42"/>
    <p:sldId xmlns:r="http://schemas.openxmlformats.org/officeDocument/2006/relationships" id="259" r:id="R8fcc6da625a4453a"/>
    <p:sldId xmlns:r="http://schemas.openxmlformats.org/officeDocument/2006/relationships" id="260" r:id="R1302736a9fde4b57"/>
    <p:sldId xmlns:r="http://schemas.openxmlformats.org/officeDocument/2006/relationships" id="261" r:id="Rd2026dcbcf0644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4dd82ee4704f64" /><Relationship Type="http://schemas.openxmlformats.org/officeDocument/2006/relationships/slideMaster" Target="/ppt/slideMasters/slideMaster1.xml" Id="R08a97c3d04e54815" /><Relationship Type="http://schemas.openxmlformats.org/officeDocument/2006/relationships/notesMaster" Target="/ppt/notesMasters/notesMaster1.xml" Id="R2249585b5c5949de" /><Relationship Type="http://schemas.openxmlformats.org/officeDocument/2006/relationships/presProps" Target="/ppt/presProps.xml" Id="R0d2c6b8a331b4729" /><Relationship Type="http://schemas.openxmlformats.org/officeDocument/2006/relationships/tableStyles" Target="/ppt/tableStyles.xml" Id="Rb1ba46bb2dad42b4" /><Relationship Type="http://schemas.openxmlformats.org/officeDocument/2006/relationships/slide" Target="/ppt/slides/slide1.xml" Id="Rd9277cf7d336473b" /><Relationship Type="http://schemas.openxmlformats.org/officeDocument/2006/relationships/slide" Target="/ppt/slides/slide2.xml" Id="Rb256d366bae140ae" /><Relationship Type="http://schemas.openxmlformats.org/officeDocument/2006/relationships/slide" Target="/ppt/slides/slide3.xml" Id="R90b9867543f84f42" /><Relationship Type="http://schemas.openxmlformats.org/officeDocument/2006/relationships/slide" Target="/ppt/slides/slide4.xml" Id="R8fcc6da625a4453a" /><Relationship Type="http://schemas.openxmlformats.org/officeDocument/2006/relationships/slide" Target="/ppt/slides/slide5.xml" Id="R1302736a9fde4b57" /><Relationship Type="http://schemas.openxmlformats.org/officeDocument/2006/relationships/slide" Target="/ppt/slides/slide6.xml" Id="Rd2026dcbcf0644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49ec3cc5474a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eb617bcedf4c44" /><Relationship Type="http://schemas.openxmlformats.org/officeDocument/2006/relationships/notesMaster" Target="/ppt/notesMasters/notesMaster1.xml" Id="R7046d885044a4c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55eb2e0b164bf2" /><Relationship Type="http://schemas.openxmlformats.org/officeDocument/2006/relationships/notesMaster" Target="/ppt/notesMasters/notesMaster1.xml" Id="R5c5c5a7b4fe54b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3ab031999b4e16" /><Relationship Type="http://schemas.openxmlformats.org/officeDocument/2006/relationships/notesMaster" Target="/ppt/notesMasters/notesMaster1.xml" Id="Rf6f61acafc6a47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522aabfd534d30" /><Relationship Type="http://schemas.openxmlformats.org/officeDocument/2006/relationships/notesMaster" Target="/ppt/notesMasters/notesMaster1.xml" Id="R36b75931debc4c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62366ef2bf4802" /><Relationship Type="http://schemas.openxmlformats.org/officeDocument/2006/relationships/notesMaster" Target="/ppt/notesMasters/notesMaster1.xml" Id="Ra77edd83e8c84d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150b0656b34faf" /><Relationship Type="http://schemas.openxmlformats.org/officeDocument/2006/relationships/notesMaster" Target="/ppt/notesMasters/notesMaster1.xml" Id="R39f5e8226c3c46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https://github.com/anshulr0019/trace-dsa. Public demo: https://trace-six-theta.vercel.app/. This is a project demonstration, not evidence of measured learning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existing public Trace app on 30 September 2026, in input preview. It shows the established mobile workspace before this product-feature deployment. Features: platform/components/curriculum/curriculum.tsx and platform/components/product/learning-tools.tsx.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from platform/lib/curriculum/catalog.ts, platform/lib/curriculum/playground.ts and source maps. Notebook features from platform/components/product/notebook.tsx. Learning path names describe problem subsets; the project has no accredited assessment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workspace: platform/components/product/teacher.tsx. Sharing and presentation work locally without account configuration. Cloud classes and submissions are implemented but inactive without the project URL, publishable key and schema. Scores are learner-reported educational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platform/lib/curriculum/runtime-client.ts; platform/docs/INTERACTIVE-EXECUTION.md; platform/supabase/schema.sql. Auth: https://supabase.com/docs/guides/auth/auth-email-passwordless . Java licensing: https://cheerpj.com/docs/licensing.html . Browser workers isolate program state and keep execution off the UI thread; they are not a hardened network security boundary. Supabase project provisioning and cloud acceptance testing remain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pilot, not an existing customer engagement. No learning outcome claims or customer metrics. Demo recording plan and outreach draft: platform/docs/DEMO-AND-PITCH.md.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6ec0a8cd149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2ef75f797c4c6c" /><Relationship Type="http://schemas.openxmlformats.org/officeDocument/2006/relationships/slideLayout" Target="/ppt/slideLayouts/slideLayout1.xml" Id="Rf486c123165441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6c123165441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1ad4a9c6142eb" /><Relationship Type="http://schemas.openxmlformats.org/officeDocument/2006/relationships/notesSlide" Target="/ppt/notesSlides/notesSlide1.xml" Id="R350aaab522cc4b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1a374ce53464b" /><Relationship Type="http://schemas.openxmlformats.org/officeDocument/2006/relationships/image" Target="/ppt/media/image.jpeg" Id="R57737e45c4ea423c" /><Relationship Type="http://schemas.openxmlformats.org/officeDocument/2006/relationships/notesSlide" Target="/ppt/notesSlides/notesSlide2.xml" Id="Rdccc96bbb9e148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29543f641460c" /><Relationship Type="http://schemas.openxmlformats.org/officeDocument/2006/relationships/notesSlide" Target="/ppt/notesSlides/notesSlide3.xml" Id="Rb4abb4dcd07144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f4f0ff8094ac1" /><Relationship Type="http://schemas.openxmlformats.org/officeDocument/2006/relationships/notesSlide" Target="/ppt/notesSlides/notesSlide4.xml" Id="Rf257d60974534b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0142097fd4000" /><Relationship Type="http://schemas.openxmlformats.org/officeDocument/2006/relationships/notesSlide" Target="/ppt/notesSlides/notesSlide5.xml" Id="R3c00d40e877347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f41dbd0ba46e2" /><Relationship Type="http://schemas.openxmlformats.org/officeDocument/2006/relationships/notesSlide" Target="/ppt/notesSlides/notesSlide6.xml" Id="R38abf9616b3740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9096C-10CC-4267-ACE8-AA63E681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rPr>
              <a:t>trace.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4241A-1407-4BD2-B7F9-9EC31281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rPr>
              <a:t>DSA through recorded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91086-0543-41CB-AB6D-BB001BE9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A learning workspace for students and online teachers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A625E-52C8-4920-AD9C-736DBB9B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3EE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3EEA4"/>
                </a:solidFill>
                <a:latin typeface="Helvetica Neue"/>
                <a:ea typeface="Helvetica Neue"/>
                <a:cs typeface="Helvetica Neue"/>
              </a:rPr>
              <a:t>trace-six-theta.vercel.app</a:t>
            </a:r>
          </a:p>
        </p:txBody>
      </p:sp>
    </p:spTree>
    <p:extLst>
      <p:ext uri="{BB962C8B-B14F-4D97-AF65-F5344CB8AC3E}">
        <p14:creationId xmlns:p14="http://schemas.microsoft.com/office/powerpoint/2010/main" val="518101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5E531-708D-4547-9A12-86210851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rPr>
              <a:t>An example students can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038CA-2277-4A17-8955-F8E192C9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rPr>
              <a:t>Choose an input and follow the recorded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56CA6-311E-40BB-8F17-2A118CBA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695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Five authored examples per problem help learners investigate different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Playback connects the visualization with highlighted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Predictions, hints and personal notes support explanation and revision.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37e45c4ea423c"/>
          <a:stretch xmlns:a="http://schemas.openxmlformats.org/drawingml/2006/main"/>
        </p:blipFill>
        <p:spPr>
          <a:xfrm xmlns:a="http://schemas.openxmlformats.org/drawingml/2006/main">
            <a:off x="8216375" y="1495425"/>
            <a:ext cx="271249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44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44E67-1927-4566-9FC0-F06FB7B8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rPr>
              <a:t>Curriculum and learner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8C732-D5F7-44EE-9217-7096C119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rPr>
              <a:t>100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87729-F6E9-4298-805F-4E09B750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3EE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E3EEE7"/>
                </a:solidFill>
                <a:latin typeface="Helvetica Neue"/>
                <a:ea typeface="Helvetica Neue"/>
                <a:cs typeface="Helvetica Neue"/>
              </a:rPr>
              <a:t>problems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D9C1F-336F-431B-B2AA-24491DE6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ED795-5802-4A0D-856F-989F5C2F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3EE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E3EEE7"/>
                </a:solidFill>
                <a:latin typeface="Helvetica Neue"/>
                <a:ea typeface="Helvetica Neue"/>
                <a:cs typeface="Helvetica Neue"/>
              </a:rPr>
              <a:t>DSA patterns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04457-C53C-4F2A-A395-A7650BC0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0E8B0-6284-49E9-A289-4EEFEF3D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670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3EE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E3EEE7"/>
                </a:solidFill>
                <a:latin typeface="Helvetica Neue"/>
                <a:ea typeface="Helvetica Neue"/>
                <a:cs typeface="Helvetica Neue"/>
              </a:rPr>
              <a:t>languages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28338-AB75-4448-B28B-A5B36EBA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rPr>
              <a:t>Python, C++17, Java 8 and JavaScript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2C373-DE16-4BE1-9E4B-CB36EB2C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104775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Bookmarks and revision notes stay with each problem.</a:t>
            </a:r>
          </a:p>
          <a:p xmlns:a="http://schemas.openxmlformats.org/drawingml/2006/main">
            <a:pPr>
              <a:defRPr sz="210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Concept learning paths give beginners a starting point.</a:t>
            </a:r>
          </a:p>
          <a:p xmlns:a="http://schemas.openxmlformats.org/drawingml/2006/main">
            <a:pPr>
              <a:defRPr sz="210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Notebook export preserves drafts and practice history.</a:t>
            </a:r>
          </a:p>
        </p:txBody>
      </p:sp>
    </p:spTree>
    <p:extLst>
      <p:ext uri="{BB962C8B-B14F-4D97-AF65-F5344CB8AC3E}">
        <p14:creationId xmlns:p14="http://schemas.microsoft.com/office/powerpoint/2010/main" val="2622144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E88AF-DA7B-455A-B16E-6EA2B6EC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rPr>
              <a:t>A lesson built around a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571A0-EACB-43FB-80D2-D9E77FCD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4CFB0-E36D-4AFC-9161-4A591310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668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rPr>
              <a:t>Create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26206-3878-4C87-9515-1F5DEAF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66875"/>
            <a:ext cx="709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Choose a problem, language, custom input and teaching prompt.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F6D26-73AC-443C-9203-E024AF32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66FE9-669A-4833-92C5-28B419E3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955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rPr>
              <a:t>Share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DDED7-8BD0-40E1-AC64-715898BA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95575"/>
            <a:ext cx="709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Send a lesson link that students open without an account.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CBE3B-B306-49C3-A806-62CD7DF1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C949E-B15A-45E0-B281-D8F33F2B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242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rPr>
              <a:t>Present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626A8-9BE5-4871-B572-6143080E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24275"/>
            <a:ext cx="709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Expand the workspace for a class demonstration.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7F5CA-FF32-4FC6-A665-44F6E89A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B46BD-B2AC-42F6-BC2B-D5965084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2CFB9-BC72-4E03-8ADC-DCC51118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52975"/>
            <a:ext cx="709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Assign to a class and read student explanations and code.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3E486-0D42-41C9-9D94-3E86914E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293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3BD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E3BD73"/>
                </a:solidFill>
                <a:latin typeface="Helvetica Neue"/>
                <a:ea typeface="Helvetica Neue"/>
                <a:cs typeface="Helvetica Neue"/>
              </a:rPr>
              <a:t>Class assignments and results require Supabase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379990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58F42-1A84-4609-83CF-7DF3E459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rPr>
              <a:t>How Trace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04F1A-D82B-4915-AFD6-F6EF0174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rPr>
              <a:t>On the learner’s device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FB8A6-7440-4AE6-80D9-F946E227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905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Disposable browser workers execute bounded learning inputs.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Python records line states. C++ and JavaScript support checkpoints and supported automatic tracing. Java uses explicit checkpoints.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3FE4A-C2C2-4110-ACF3-B84978D3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83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rPr>
              <a:t>With a configured account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BA9DE-DBB4-49D1-803E-CDE1B4BE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47925"/>
            <a:ext cx="48387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Supabase handles email sign-in and application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Row access policies scope notebooks and class submissions.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Notebook transfer uses explicit save and restore.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3BA90-77A7-4432-BDFA-10B4449D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3BD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3BD73"/>
                </a:solidFill>
                <a:latin typeface="Helvetica Neue"/>
                <a:ea typeface="Helvetica Neue"/>
                <a:cs typeface="Helvetica Neue"/>
              </a:rPr>
              <a:t>Java business use needs a suitable CheerpJ licence. Browser scores are learner-reported.</a:t>
            </a:r>
          </a:p>
        </p:txBody>
      </p:sp>
    </p:spTree>
    <p:extLst>
      <p:ext uri="{BB962C8B-B14F-4D97-AF65-F5344CB8AC3E}">
        <p14:creationId xmlns:p14="http://schemas.microsoft.com/office/powerpoint/2010/main" val="9324580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BC51C-EEBA-4742-8C67-3648DC15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E3EEE7"/>
                </a:solidFill>
                <a:latin typeface="Helvetica Neue"/>
                <a:ea typeface="Helvetica Neue"/>
                <a:cs typeface="Helvetica Neue"/>
              </a:rPr>
              <a:t>A small classroom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F52DA-56E7-45CB-BF2D-84643FEB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C3EEA4"/>
                </a:solidFill>
                <a:latin typeface="Helvetica Neue"/>
                <a:ea typeface="Helvetica Neue"/>
                <a:cs typeface="Helvetica Neue"/>
              </a:rPr>
              <a:t>One teacher. One DSA topic.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92711-9830-4C78-9AC3-56B8F438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E3EE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E3EEE7"/>
                </a:solidFill>
                <a:latin typeface="Helvetica Neue"/>
                <a:ea typeface="Helvetica Neue"/>
                <a:cs typeface="Helvetica Neue"/>
              </a:rPr>
              <a:t>Use a lesson alongside an existing class. Ask students to explain a state change before practising a fresh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41993-04D1-4031-BD77-397FE1E9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Discuss which steps became easier to explain and where the visualization remained confusing.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7E846-951C-47B0-A085-23B6D1F7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6BBAF"/>
                </a:solidFill>
                <a:latin typeface="Helvetica Neue"/>
                <a:ea typeface="Helvetica Neue"/>
                <a:cs typeface="Helvetica Neue"/>
              </a:rPr>
              <a:t>Next: owner acceptance testing and cloud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737436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2026-09-30T18:25:36.1360000Z</dcterms:created>
  <dcterms:modified xsi:type="dcterms:W3CDTF">2026-09-30T18:25:36.1370000Z</dcterms:modified>
</coreProperties>
</file>